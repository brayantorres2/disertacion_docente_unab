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05A0E-CFE8-BD9B-C047-63C40BA1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630C87-15C3-9733-285F-6F0BB0583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5858A9-1412-DBBB-BB9A-24B0FCAE1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F30E84-0584-86DF-F273-D9481C5F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826A73-F342-2333-81EB-4E2645A9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977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CF294-B1E3-9D14-9099-1D4AD630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7666B-D2D7-0373-3EDC-44B332747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2A0225-B764-61F1-9970-1C5FC86B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E04FDE-1B26-FEF1-F57F-B576123C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ABA29F-813A-D276-2AF2-A9FEB49B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151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27904-AFCC-56E0-474C-DCF30866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ADEAF7-4613-41AA-C2B6-B06A29BB6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8A5BC3-2A1B-86A6-ECFF-1906A55B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605A81-300A-D9D9-E9B1-AC1EDAF62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15D704-79B9-6EAD-D12E-FC565808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735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A6FE-A68A-AA98-009A-FF558320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DA3494-88AE-59B8-B565-0B3150280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1E9B8A-F0F2-3E71-E7C5-6EC3E6A25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429D0E-A131-30BF-2BB1-15234F83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71E0CB-188B-5521-5FB4-78F18FDDB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24A5B9-C0C6-8335-A04E-DEAF60D0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7988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80C1C-A600-BFAC-F9CD-77B739BB9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563BAE-F7AA-2C09-6BC8-523595245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86AFB9-EFAA-6CB4-352F-3CF843FB7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2649DB1-B1F0-3C49-6219-A0D7BB34B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FA28FE-D61D-06EF-1CB9-FFDCA302C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557CB3-50DA-63A2-B848-D99541602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AE5AB7-1C76-D8F6-0B30-58E40E13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63249D-5A59-0B8C-575F-601B46F6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7778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31A41-C319-1A09-83A5-21B8FBF2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A61041-3367-BAD7-E482-1EB48A0F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C2D5F7-5745-196F-7BFD-4AF7881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E9781E-9BE4-6A4A-2896-7A195AC5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783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943A08-5588-412E-3F2B-FBCCF7019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AEB7D9-23DE-D197-C336-5ACF359F8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E7738A-95FE-2CE7-9F69-FA11BDDFE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215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FEA35-3D8D-4750-9FA2-7F06464B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835854-2A1A-8611-7FDA-B1987B149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02D015-8565-712D-CDE8-A12513DC5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90C237-6867-4DCC-9B7B-F2147FF13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C3F216-236C-3DFE-288A-ED5A4730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D07A5F-43E6-174F-4A61-995A79F2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860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F96F5-3946-4245-0835-11946931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3D8715B-BAB6-3DD9-F762-0C3856A55B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13A9D6-E1BA-0CCD-CA4C-78D9E7276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7539D7-9738-1F88-30BF-797AC2FFD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368C89-69A3-B5DA-B364-5CCC61B9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EB79D1-1A3B-9517-E116-C8841418F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2823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128E5-5B55-7C61-8EC3-83FFF50D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B5CE10-859D-1B52-A98A-60EC2D67A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5EF5CD-0CF2-D0CE-D789-7EEDE452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C0650E-D230-A9FA-8E82-E047EDBC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D6C2DA-035F-1D6C-6097-84FB531B0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3009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FC50DB-4E73-1B36-D3DF-0C7E8C3CF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A7FB7E-ED46-1367-3178-CD6F8C209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52A5E7-1BBA-3BCC-F79E-67D4B654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5D166C-F68E-8A3E-0177-F3938763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4A14BE-193F-642D-CB8C-3E108C41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910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E066E89-D5FA-610D-16B6-43129BFA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460E13-C72B-E045-FCCC-13FDCF906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8CB948-0ED9-A629-6D26-D15B261A5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4CC28-E119-48A3-9BDE-028738B23EEC}" type="datetimeFigureOut">
              <a:rPr lang="es-CO" smtClean="0"/>
              <a:t>12/01/2026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1D1B3B-1E8C-EDA6-3783-518E2D692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EF57DC-E371-C065-EDC4-65521A9A0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187D5-A43C-4972-9999-F589DFD3BA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389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ayanTorres2/Inteligencia-artificial-computacion-U/blob/main/Semana%204/TUTORIAL%20-%20Herramientas%20para%20analisis%20estadistico/TUTORIAL%20-%20Herramientas%20para%20analisis%20estadistico.ipynb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FB1374-74D4-026A-5A67-C28D4C0B05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B6C46C-5C05-A0AD-82D4-AE28C57E9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CO" dirty="0">
                <a:solidFill>
                  <a:srgbClr val="FFFFFF"/>
                </a:solidFill>
              </a:rPr>
              <a:t>Detección de fraude con tarjetas de crédito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B9F920-2C8A-B82D-0A8C-AF3AB1C76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s-CO" dirty="0">
                <a:solidFill>
                  <a:srgbClr val="FFFFFF"/>
                </a:solidFill>
              </a:rPr>
              <a:t>Brayan </a:t>
            </a:r>
            <a:r>
              <a:rPr lang="es-CO" dirty="0" err="1">
                <a:solidFill>
                  <a:srgbClr val="FFFFFF"/>
                </a:solidFill>
              </a:rPr>
              <a:t>Stiven</a:t>
            </a:r>
            <a:r>
              <a:rPr lang="es-CO" dirty="0">
                <a:solidFill>
                  <a:srgbClr val="FFFFFF"/>
                </a:solidFill>
              </a:rPr>
              <a:t> Torres Ovalle </a:t>
            </a:r>
          </a:p>
        </p:txBody>
      </p:sp>
    </p:spTree>
    <p:extLst>
      <p:ext uri="{BB962C8B-B14F-4D97-AF65-F5344CB8AC3E}">
        <p14:creationId xmlns:p14="http://schemas.microsoft.com/office/powerpoint/2010/main" val="737133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32B6932-E2A0-E0EB-1391-888A40C75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49" y="779287"/>
            <a:ext cx="4678904" cy="3206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026" name="Picture 2" descr="AV Villas - AV Villas added a new photo.">
            <a:extLst>
              <a:ext uri="{FF2B5EF4-FFF2-40B4-BE49-F238E27FC236}">
                <a16:creationId xmlns:a16="http://schemas.microsoft.com/office/drawing/2014/main" id="{A34BEA32-CDB7-9A87-83B8-D8339587E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326" y="53903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C2BF44B-8220-89E6-A979-5EC88FF1B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241" y="2682158"/>
            <a:ext cx="2524653" cy="144399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E08A4CC-C978-41ED-0C0A-A8B0652BF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1" y="4126148"/>
            <a:ext cx="2616334" cy="116020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7ED730C-F843-E828-A259-36FEB1DCC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752" y="760397"/>
            <a:ext cx="2616334" cy="1340871"/>
          </a:xfrm>
          <a:prstGeom prst="rect">
            <a:avLst/>
          </a:prstGeom>
        </p:spPr>
      </p:pic>
      <p:pic>
        <p:nvPicPr>
          <p:cNvPr id="1030" name="Picture 6" descr="Fresenius Medical Care 🇨🇴 (@freseniusmedicalcarecolombia) · Bogotá">
            <a:extLst>
              <a:ext uri="{FF2B5EF4-FFF2-40B4-BE49-F238E27FC236}">
                <a16:creationId xmlns:a16="http://schemas.microsoft.com/office/drawing/2014/main" id="{4831C491-24CF-1FD0-05B6-48F7A5934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933" y="2235518"/>
            <a:ext cx="1643548" cy="1643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A88B5D7-A7B6-A667-4FF8-DC93560684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8933" y="4430296"/>
            <a:ext cx="975445" cy="9221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8A5B314-0C5E-146C-6EF1-AB4DE8CC9FC3}"/>
              </a:ext>
            </a:extLst>
          </p:cNvPr>
          <p:cNvSpPr txBox="1"/>
          <p:nvPr/>
        </p:nvSpPr>
        <p:spPr>
          <a:xfrm>
            <a:off x="744164" y="4475233"/>
            <a:ext cx="457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Ingeniero de sistemas, Magister en inteligencia analítica de datos de la Universidad de los andes. Con mas de tres años de experiencia en el sector bancario y medicina, y cuatro años de experiencia en la academia  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1E5D300-A29E-5FBD-C94E-C73C8FF163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752" y="5279241"/>
            <a:ext cx="47625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08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5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Rectangle 2056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197DB9-13D4-8263-4820-CDCDB3CAA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MX" sz="2300">
                <a:solidFill>
                  <a:schemeClr val="tx2"/>
                </a:solidFill>
              </a:rPr>
              <a:t>¿En qué consiste el problema, </a:t>
            </a:r>
            <a:r>
              <a:rPr lang="es-CO" sz="2300">
                <a:solidFill>
                  <a:schemeClr val="tx2"/>
                </a:solidFill>
              </a:rPr>
              <a:t>Detección de fraude con tarjetas de crédito </a:t>
            </a:r>
            <a:r>
              <a:rPr lang="es-MX" sz="2300">
                <a:solidFill>
                  <a:schemeClr val="tx2"/>
                </a:solidFill>
              </a:rPr>
              <a:t>?</a:t>
            </a:r>
            <a:br>
              <a:rPr lang="es-CO" sz="2300">
                <a:solidFill>
                  <a:schemeClr val="tx2"/>
                </a:solidFill>
              </a:rPr>
            </a:br>
            <a:endParaRPr lang="es-CO" sz="23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A10E42-64BB-C4DA-E267-200A262A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1500">
                <a:solidFill>
                  <a:schemeClr val="tx2"/>
                </a:solidFill>
              </a:rPr>
              <a:t>se ha consolidado como uno de los casos de uso más emblemáticos y desafiantes en el ecosistema del </a:t>
            </a:r>
            <a:r>
              <a:rPr lang="es-MX" sz="1500" b="1">
                <a:solidFill>
                  <a:schemeClr val="tx2"/>
                </a:solidFill>
              </a:rPr>
              <a:t>Machine Learning </a:t>
            </a:r>
            <a:r>
              <a:rPr lang="es-MX" sz="1500">
                <a:solidFill>
                  <a:schemeClr val="tx2"/>
                </a:solidFill>
              </a:rPr>
              <a:t>y la </a:t>
            </a:r>
            <a:r>
              <a:rPr lang="es-MX" sz="1500" b="1">
                <a:solidFill>
                  <a:schemeClr val="tx2"/>
                </a:solidFill>
              </a:rPr>
              <a:t>ciencia de datos</a:t>
            </a:r>
            <a:r>
              <a:rPr lang="es-MX" sz="1500">
                <a:solidFill>
                  <a:schemeClr val="tx2"/>
                </a:solidFill>
              </a:rPr>
              <a:t>. Su relevancia radica no solo en el </a:t>
            </a:r>
            <a:r>
              <a:rPr lang="es-MX" sz="1500" b="1">
                <a:solidFill>
                  <a:schemeClr val="tx2"/>
                </a:solidFill>
              </a:rPr>
              <a:t>impacto financiero</a:t>
            </a:r>
            <a:r>
              <a:rPr lang="es-MX" sz="1500">
                <a:solidFill>
                  <a:schemeClr val="tx2"/>
                </a:solidFill>
              </a:rPr>
              <a:t>, sino en la sofisticación requerida para procesar grandes volúmenes de información en tiempo real con una precisión milimétrica.</a:t>
            </a:r>
          </a:p>
          <a:p>
            <a:pPr marL="0" indent="0">
              <a:buNone/>
            </a:pPr>
            <a:r>
              <a:rPr lang="es-MX" sz="1500">
                <a:solidFill>
                  <a:schemeClr val="tx2"/>
                </a:solidFill>
              </a:rPr>
              <a:t>Aunque el objetivo principal es distinguir con claridad las operaciones legítimas de las </a:t>
            </a:r>
            <a:r>
              <a:rPr lang="es-MX" sz="1500" b="1">
                <a:solidFill>
                  <a:schemeClr val="tx2"/>
                </a:solidFill>
              </a:rPr>
              <a:t>fraudulentas</a:t>
            </a:r>
            <a:r>
              <a:rPr lang="es-MX" sz="1500">
                <a:solidFill>
                  <a:schemeClr val="tx2"/>
                </a:solidFill>
              </a:rPr>
              <a:t>, el problema presenta particularidades técnicas que lo hacen sumamente </a:t>
            </a:r>
            <a:r>
              <a:rPr lang="es-MX" sz="1500" b="1">
                <a:solidFill>
                  <a:schemeClr val="tx2"/>
                </a:solidFill>
              </a:rPr>
              <a:t>complejo</a:t>
            </a:r>
            <a:r>
              <a:rPr lang="es-MX" sz="1500">
                <a:solidFill>
                  <a:schemeClr val="tx2"/>
                </a:solidFill>
              </a:rPr>
              <a:t>. Factores como el </a:t>
            </a:r>
            <a:r>
              <a:rPr lang="es-MX" sz="1500" b="1">
                <a:solidFill>
                  <a:schemeClr val="tx2"/>
                </a:solidFill>
              </a:rPr>
              <a:t>extremo desequilibrio </a:t>
            </a:r>
            <a:r>
              <a:rPr lang="es-MX" sz="1500">
                <a:solidFill>
                  <a:schemeClr val="tx2"/>
                </a:solidFill>
              </a:rPr>
              <a:t>de los datos y la naturaleza cambiante de los patrones delictivos exigen enfoques avanzados que van mucho más allá de una </a:t>
            </a:r>
            <a:r>
              <a:rPr lang="es-MX" sz="1500" b="1">
                <a:solidFill>
                  <a:schemeClr val="tx2"/>
                </a:solidFill>
              </a:rPr>
              <a:t>clasificación binaria tradicional.</a:t>
            </a:r>
          </a:p>
          <a:p>
            <a:pPr marL="0" indent="0">
              <a:buNone/>
            </a:pPr>
            <a:endParaRPr lang="es-MX" sz="15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s-CO" sz="1500">
              <a:solidFill>
                <a:schemeClr val="tx2"/>
              </a:solidFill>
            </a:endParaRP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0" name="Picture 2" descr="Deep Learning Logo Deep Learning Logo Do Machine Learning And Computer  Vision Tasks">
            <a:extLst>
              <a:ext uri="{FF2B5EF4-FFF2-40B4-BE49-F238E27FC236}">
                <a16:creationId xmlns:a16="http://schemas.microsoft.com/office/drawing/2014/main" id="{AB5B32FE-2CB8-15A4-AF75-C0D7DA845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08392" y="1819656"/>
            <a:ext cx="4142232" cy="414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131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92F94-C60C-86B9-DEE4-77F2E550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4479B9-8F7E-A281-9399-8F95987DF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MX" sz="3300" b="1">
                <a:solidFill>
                  <a:schemeClr val="tx2"/>
                </a:solidFill>
              </a:rPr>
              <a:t>El Desafío Principal: Desequilibrio de Clases</a:t>
            </a:r>
            <a:br>
              <a:rPr lang="es-MX" sz="3300" b="1">
                <a:solidFill>
                  <a:schemeClr val="tx2"/>
                </a:solidFill>
              </a:rPr>
            </a:br>
            <a:endParaRPr lang="es-CO" sz="33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696587-0D9B-4912-ECA0-B454B0078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1700">
                <a:solidFill>
                  <a:schemeClr val="tx2"/>
                </a:solidFill>
              </a:rPr>
              <a:t>Este es el aspecto más crítico del problema. En el conjunto de datos:</a:t>
            </a:r>
          </a:p>
          <a:p>
            <a:r>
              <a:rPr lang="es-MX" sz="1700">
                <a:solidFill>
                  <a:schemeClr val="tx2"/>
                </a:solidFill>
              </a:rPr>
              <a:t>Hay </a:t>
            </a:r>
            <a:r>
              <a:rPr lang="es-MX" sz="1700" b="1">
                <a:solidFill>
                  <a:schemeClr val="tx2"/>
                </a:solidFill>
              </a:rPr>
              <a:t>284,807 transacciones</a:t>
            </a:r>
            <a:r>
              <a:rPr lang="es-MX" sz="1700">
                <a:solidFill>
                  <a:schemeClr val="tx2"/>
                </a:solidFill>
              </a:rPr>
              <a:t>.</a:t>
            </a:r>
          </a:p>
          <a:p>
            <a:r>
              <a:rPr lang="es-MX" sz="1700">
                <a:solidFill>
                  <a:schemeClr val="tx2"/>
                </a:solidFill>
              </a:rPr>
              <a:t>Solo </a:t>
            </a:r>
            <a:r>
              <a:rPr lang="es-MX" sz="1700" b="1">
                <a:solidFill>
                  <a:schemeClr val="tx2"/>
                </a:solidFill>
              </a:rPr>
              <a:t>492 son fraudes</a:t>
            </a:r>
            <a:r>
              <a:rPr lang="es-MX" sz="170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r>
              <a:rPr lang="es-MX" sz="1700">
                <a:solidFill>
                  <a:schemeClr val="tx2"/>
                </a:solidFill>
              </a:rPr>
              <a:t>Esto significa que el fraude representa apenas el </a:t>
            </a:r>
            <a:r>
              <a:rPr lang="es-MX" sz="1700" b="1">
                <a:solidFill>
                  <a:schemeClr val="tx2"/>
                </a:solidFill>
              </a:rPr>
              <a:t>0.17%</a:t>
            </a:r>
            <a:r>
              <a:rPr lang="es-MX" sz="1700">
                <a:solidFill>
                  <a:schemeClr val="tx2"/>
                </a:solidFill>
              </a:rPr>
              <a:t> del total.</a:t>
            </a:r>
          </a:p>
          <a:p>
            <a:r>
              <a:rPr lang="es-MX" sz="1700" b="1">
                <a:solidFill>
                  <a:schemeClr val="tx2"/>
                </a:solidFill>
              </a:rPr>
              <a:t>Nota:</a:t>
            </a:r>
            <a:r>
              <a:rPr lang="es-MX" sz="1700">
                <a:solidFill>
                  <a:schemeClr val="tx2"/>
                </a:solidFill>
              </a:rPr>
              <a:t> Debido a este desequilibrio, la métrica de "Exactitud" (Accuracy) no sirve. Un modelo que diga siempre que "no es fraude" tendrá un 99.8% de precisión, pero será completamente inútil para detectar criminales.</a:t>
            </a:r>
          </a:p>
          <a:p>
            <a:endParaRPr lang="es-CO" sz="1700">
              <a:solidFill>
                <a:schemeClr val="tx2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72BF4B9A-FDDB-54ED-5B3B-FC34D7D4C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  <p:sp>
        <p:nvSpPr>
          <p:cNvPr id="4" name="AutoShape 2" descr="Imagen de ">
            <a:extLst>
              <a:ext uri="{FF2B5EF4-FFF2-40B4-BE49-F238E27FC236}">
                <a16:creationId xmlns:a16="http://schemas.microsoft.com/office/drawing/2014/main" id="{C664C21E-2641-5640-6ACE-AB235BB3D9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" name="AutoShape 4" descr="Imagen de ">
            <a:extLst>
              <a:ext uri="{FF2B5EF4-FFF2-40B4-BE49-F238E27FC236}">
                <a16:creationId xmlns:a16="http://schemas.microsoft.com/office/drawing/2014/main" id="{541099CA-DF6A-5D6D-AC11-9517F089CC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6BE1815-41A4-58BA-4473-ED8C57CDF0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791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423EEA-B2F6-E50F-D8BB-83CC326E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MX" dirty="0"/>
              <a:t>Los Datos (Privacidad y PCA)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2EA06F-C6DF-9BED-2CEE-A13EB7B94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900"/>
              <a:t>Por razones de confidencialidad, la mayoría de las características originales (como nombres, direcciones o detalles del comercio) han sido transformadas mediante una técnica llamada </a:t>
            </a:r>
            <a:r>
              <a:rPr lang="es-MX" sz="1900" b="1"/>
              <a:t>PCA (Análisis de Componentes Principales)</a:t>
            </a:r>
            <a:r>
              <a:rPr lang="es-MX" sz="1900"/>
              <a:t>.</a:t>
            </a:r>
          </a:p>
          <a:p>
            <a:r>
              <a:rPr lang="es-MX" sz="1900" b="1"/>
              <a:t>V1 a V28:</a:t>
            </a:r>
            <a:r>
              <a:rPr lang="es-MX" sz="1900"/>
              <a:t> Son las características numéricas resultantes del PCA.</a:t>
            </a:r>
          </a:p>
          <a:p>
            <a:r>
              <a:rPr lang="es-MX" sz="1900" b="1"/>
              <a:t>Time (Tiempo):</a:t>
            </a:r>
            <a:r>
              <a:rPr lang="es-MX" sz="1900"/>
              <a:t> Segundos transcurridos entre cada transacción y la primera transacción del dataset.</a:t>
            </a:r>
          </a:p>
          <a:p>
            <a:r>
              <a:rPr lang="es-MX" sz="1900" b="1"/>
              <a:t>Amount (Monto):</a:t>
            </a:r>
            <a:r>
              <a:rPr lang="es-MX" sz="1900"/>
              <a:t> El valor de la transacción.</a:t>
            </a:r>
          </a:p>
          <a:p>
            <a:endParaRPr lang="es-CO" sz="19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4135B5-00F6-1430-5298-179D9DDB3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088" y="2550034"/>
            <a:ext cx="6165728" cy="3061494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425F32D-2C92-3EF3-504A-7AA5D12BEDEB}"/>
              </a:ext>
            </a:extLst>
          </p:cNvPr>
          <p:cNvSpPr txBox="1"/>
          <p:nvPr/>
        </p:nvSpPr>
        <p:spPr>
          <a:xfrm>
            <a:off x="6858000" y="5611528"/>
            <a:ext cx="300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Fuente </a:t>
            </a:r>
            <a:r>
              <a:rPr lang="es-CO" dirty="0" err="1">
                <a:hlinkClick r:id="rId3"/>
              </a:rPr>
              <a:t>Github</a:t>
            </a:r>
            <a:r>
              <a:rPr lang="es-CO" dirty="0">
                <a:hlinkClick r:id="rId3"/>
              </a:rPr>
              <a:t> Brayan Torres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5631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3854C4-D4E8-652F-28C5-6DE5F34C8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MX" dirty="0"/>
              <a:t>¿Cómo se mide el éxito?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44AD04-A7B0-C036-1775-ACA0B9AE2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s-MX" sz="2000"/>
              <a:t>Para evaluar los modelos en este contexto, se suelen utilizar métricas que miden la calidad de la detección más allá del simple acierto:</a:t>
            </a:r>
          </a:p>
          <a:p>
            <a:r>
              <a:rPr lang="es-MX" sz="2000" b="1"/>
              <a:t>AUPRC (Área bajo la curva de Precisión-Recall):</a:t>
            </a:r>
            <a:r>
              <a:rPr lang="es-MX" sz="2000"/>
              <a:t> Es la métrica recomendada para este dataset debido al desequilibrio.</a:t>
            </a:r>
          </a:p>
          <a:p>
            <a:r>
              <a:rPr lang="es-MX" sz="2000" b="1"/>
              <a:t>Matriz de Confusión:</a:t>
            </a:r>
            <a:r>
              <a:rPr lang="es-MX" sz="2000"/>
              <a:t> Para ver cuántos fraudes se escaparon (Falsos Negativos) y cuántas transacciones buenas se bloquearon por error (Falsos Positivos).</a:t>
            </a:r>
          </a:p>
          <a:p>
            <a:pPr marL="0" indent="0">
              <a:buNone/>
            </a:pPr>
            <a:endParaRPr lang="es-CO" sz="2000"/>
          </a:p>
        </p:txBody>
      </p:sp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411B6E6-4025-8F6C-C358-89D33472A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576" y="1940438"/>
            <a:ext cx="5547733" cy="23090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F0FFB0C-E73E-8370-4F70-B0C6EB7D6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806" y="4511974"/>
            <a:ext cx="4607742" cy="145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7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Freeform: Shape 4106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4088B9-DA72-EFE8-CB3F-4227D17F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Vamos al código 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D39647B-E7EB-FEA5-8F7D-34F716072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8166" y="578738"/>
            <a:ext cx="5163819" cy="567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0716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432</Words>
  <Application>Microsoft Office PowerPoint</Application>
  <PresentationFormat>Panorámica</PresentationFormat>
  <Paragraphs>23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Detección de fraude con tarjetas de crédito </vt:lpstr>
      <vt:lpstr>Presentación de PowerPoint</vt:lpstr>
      <vt:lpstr>¿En qué consiste el problema, Detección de fraude con tarjetas de crédito ? </vt:lpstr>
      <vt:lpstr>El Desafío Principal: Desequilibrio de Clases </vt:lpstr>
      <vt:lpstr>Los Datos (Privacidad y PCA)</vt:lpstr>
      <vt:lpstr>¿Cómo se mide el éxito?</vt:lpstr>
      <vt:lpstr>Vamos al código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BRAYAN STIVEN TORRES OVALLE</dc:creator>
  <cp:lastModifiedBy>BRAYAN STIVEN TORRES OVALLE</cp:lastModifiedBy>
  <cp:revision>1</cp:revision>
  <dcterms:created xsi:type="dcterms:W3CDTF">2026-01-12T21:19:56Z</dcterms:created>
  <dcterms:modified xsi:type="dcterms:W3CDTF">2026-01-12T22:27:33Z</dcterms:modified>
</cp:coreProperties>
</file>